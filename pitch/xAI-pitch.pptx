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Today I’m giving a short pitch about my seminar topic: Robustness in AI—specifically, what makes AI systems robust, how we can achieve robustness, and how we can measure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will briefly introduce why robustness matters, and then walk you through the planned structure of my final presentation.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b77c8d8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b77c8d8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want to start with a simple fact: AI systems today are leaving the lab and entering the real world—autonomous vehicles, medical diagnosis, finance, and critical infrastructure.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But AI that works perfectly in controlled environments often fails when confronted with real-world complexity. This ‘lab-to-real gap’ includes noise, sensor errors, distribution shifts, biased data, adversarial attacks, unpredictable human behavior, and rare, edge-case events.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any of the high stake application fails, it will have severe consequences.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So this motivates my main research question: </a:t>
            </a:r>
            <a:r>
              <a:rPr b="1" i="1" lang="en">
                <a:solidFill>
                  <a:schemeClr val="dk1"/>
                </a:solidFill>
              </a:rPr>
              <a:t>How can we build AI systems that remain reliable not only in controlled test settings, but also in the real world complexity?</a:t>
            </a:r>
            <a:r>
              <a:rPr lang="en">
                <a:solidFill>
                  <a:schemeClr val="dk1"/>
                </a:solidFill>
              </a:rPr>
              <a:t>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47ec47f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e47ec47f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</a:rPr>
              <a:t>"My presentation will start with an introduction containing three parts.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1.1 Motivation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short overview of real-world failures and the lab-to-real gap.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1.2 Definition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will introduce a clear, unified definition of robustness based on the Freiesleben &amp; Grote framework.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framework views robustness as the </a:t>
            </a:r>
            <a:r>
              <a:rPr i="1" lang="en">
                <a:solidFill>
                  <a:schemeClr val="dk1"/>
                </a:solidFill>
              </a:rPr>
              <a:t>stability of a system’s behavior</a:t>
            </a:r>
            <a:r>
              <a:rPr lang="en">
                <a:solidFill>
                  <a:schemeClr val="dk1"/>
                </a:solidFill>
              </a:rPr>
              <a:t> under specific interventions or perturbations, and it naturally leads to different </a:t>
            </a:r>
            <a:r>
              <a:rPr b="1" lang="en">
                <a:solidFill>
                  <a:schemeClr val="dk1"/>
                </a:solidFill>
              </a:rPr>
              <a:t>subtypes</a:t>
            </a:r>
            <a:r>
              <a:rPr lang="en">
                <a:solidFill>
                  <a:schemeClr val="dk1"/>
                </a:solidFill>
              </a:rPr>
              <a:t> such as adversarial robustness, distributional robustness, shortcut-robustness, and more.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1.3 Threats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 will then outline the major threats to robustness: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Natural distribution shifts</a:t>
            </a:r>
            <a:r>
              <a:rPr lang="en">
                <a:solidFill>
                  <a:schemeClr val="dk1"/>
                </a:solidFill>
              </a:rPr>
              <a:t>—different environments, sensors, user groups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Adversarial attacks</a:t>
            </a:r>
            <a:r>
              <a:rPr lang="en">
                <a:solidFill>
                  <a:schemeClr val="dk1"/>
                </a:solidFill>
              </a:rPr>
              <a:t>—intentional perturbations that fool models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Operational failures and unknown unknowns</a:t>
            </a:r>
            <a:r>
              <a:rPr lang="en">
                <a:solidFill>
                  <a:schemeClr val="dk1"/>
                </a:solidFill>
              </a:rPr>
              <a:t>—unexpected states and deployment-level issues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threats motivate the methods section that follows."*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e47ec47ff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e47ec47f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"The second major part of the talk focuses on methods to achieve robustness, organized into three categories.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2.1 Data-centric robustness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includes methods like data augmentation,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( adversarial data augmentation, increasing data diversity, and reducing dataset bias.)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2.2 Model-centric robustness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Here I discuss approaches such as adversarial training, regularization strategies, robust architectures, and uncertainty estimation.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techniques directly modify the model or its training process to improve stability.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2.3 System-centric robustness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Finally, I will cover system-level strategies like out-of-distribution detection, runtime monitoring, fallback mechanisms, and human-in-the-loop safety.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These are important because robustness is not only a property of a model, but of the entire deployed system."*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e47ec47f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e47ec47f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third part of the presentation explains </a:t>
            </a:r>
            <a:r>
              <a:rPr b="1" lang="en">
                <a:solidFill>
                  <a:schemeClr val="dk1"/>
                </a:solidFill>
              </a:rPr>
              <a:t>how robustness can be measured</a:t>
            </a:r>
            <a:r>
              <a:rPr lang="en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will list some </a:t>
            </a:r>
            <a:r>
              <a:rPr lang="en"/>
              <a:t>metrics</a:t>
            </a:r>
            <a:r>
              <a:rPr lang="en"/>
              <a:t> based on different aspects of robustness that needs to be measured.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 still working on this part, so i wont go into details here.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e47ec47f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e47ec47f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fourth part, i will discuss Robustness in the context of trustworthy AI and how it might be related to other aspects, eg explainability.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also raise some open issues in robustness research, e.g. </a:t>
            </a:r>
            <a:r>
              <a:rPr b="1" lang="en">
                <a:solidFill>
                  <a:schemeClr val="dk1"/>
                </a:solidFill>
              </a:rPr>
              <a:t>Trade-offs</a:t>
            </a:r>
            <a:r>
              <a:rPr lang="en">
                <a:solidFill>
                  <a:schemeClr val="dk1"/>
                </a:solidFill>
              </a:rPr>
              <a:t> between robustness, accuracy, and computational cost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The </a:t>
            </a:r>
            <a:r>
              <a:rPr b="1" lang="en">
                <a:solidFill>
                  <a:schemeClr val="dk1"/>
                </a:solidFill>
              </a:rPr>
              <a:t>lack of standardized evaluation protocols</a:t>
            </a:r>
            <a:r>
              <a:rPr lang="en">
                <a:solidFill>
                  <a:schemeClr val="dk1"/>
                </a:solidFill>
              </a:rPr>
              <a:t>, which makes comparing methods very difficult.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dd7da1d3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dd7da1d3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Before I wrap up, I’d like to pose a few open questions where I’d really appreciate your feedback.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First: Should I keep the topic general, or would it be more effective to focus on one specific application, such as medical imaging robustness or one subtype of robustness: adversarial robustness?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Second: How technical should I go in the final talk? Would i need to explain data augmentation/regularization? Should I include mathematical details of eg. FGSM (fast gradient sign method), or keep it at a conceptual level?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Third: Would it be useful if I integrate one case study or my own experiments—for example, showing failure modes on MNIST or CIFAR—as a running example?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These decisions will shape how deep and how practical the final presentation becomes, so I would love your input.”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attacks: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someone can influence what the AI sees, hears, or reads — even just a little bit — they can attempt an adversarial attack.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Scenario: Autonomous driving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self-driving car uses a camera to classify road signs.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attack: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a small sticker on a STOP 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altering the shape or color pattern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Wearing a T-shirt with adversarial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result: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car sees the modified STOP sign → classifies it as “speed limit 45”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Humans still see a normal sign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possible?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the attacker can manipulate the camera input.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Conditions for attack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Attacker can physically alter what the camera sees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changes can be tiny and invisible to humans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is sensitive to pixel-level patterns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Robustness</a:t>
            </a:r>
            <a:r>
              <a:rPr lang="en"/>
              <a:t> in AI systems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Pitch Presentation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7843975" y="4683300"/>
            <a:ext cx="1299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Yindan Ma  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08.12.25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Motivation: Why is Robustness important?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 to real-world challenge (Roy, 2024)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Noise, sensor errors, distribution shift, adversarial threats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world failures can be surprising and dangerous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Main </a:t>
            </a:r>
            <a:r>
              <a:rPr lang="en"/>
              <a:t>question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can we build AI systems that remain reliable in the real world complexity?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Structure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718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-341709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3750"/>
              <a:t>Introduction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	1.1 motivation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	1.2 definition 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		Unified definition + subtypes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	1.3 threats </a:t>
            </a:r>
            <a:endParaRPr sz="37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		Natural distribution shifts</a:t>
            </a:r>
            <a:endParaRPr sz="375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Adversarial attacks</a:t>
            </a:r>
            <a:endParaRPr sz="3750"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750"/>
              <a:t>Operational failures + unknown unknowns</a:t>
            </a:r>
            <a:endParaRPr sz="37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Structure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90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</a:t>
            </a:r>
            <a:r>
              <a:rPr lang="en"/>
              <a:t>Methods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2.1 Data-centric robustness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(Data augmentation…)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2.2 Model-centric robustness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(adversarial training, Regularization…)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2.3 System-centric robustness </a:t>
            </a:r>
            <a:endParaRPr/>
          </a:p>
          <a:p>
            <a:pPr indent="4572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(OOD detection, Monitoring…)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Structure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Measurement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Performance degradation: accuracy/F1 drop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Stability across domains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Sensitivity of predictions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Planned Structure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Discussion and open questions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Potential </a:t>
            </a:r>
            <a:r>
              <a:rPr lang="en"/>
              <a:t>trade</a:t>
            </a:r>
            <a:r>
              <a:rPr lang="en"/>
              <a:t>-offs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Lacks standardized evaluation methods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5. Conclusion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Questions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Should the final talk stay general, or focus on one robustness subtype/application domain?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(e.g., adversarial robustness / medical imaging robustness)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technical should I go?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(High-level concepts or mathematical details?)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Should I integrate one case study / my own experiments?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